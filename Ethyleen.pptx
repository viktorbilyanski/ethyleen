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Quattrocento Sans"/>
      <p:regular r:id="rId16"/>
      <p:bold r:id="rId17"/>
      <p:italic r:id="rId18"/>
      <p:boldItalic r:id="rId19"/>
    </p:embeddedFont>
    <p:embeddedFont>
      <p:font typeface="PT Mono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Mono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QuattrocentoSans-bold.fntdata"/><Relationship Id="rId16" Type="http://schemas.openxmlformats.org/officeDocument/2006/relationships/font" Target="fonts/QuattrocentoSans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QuattrocentoSans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Quattrocento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313c49f72_2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d313c49f72_2_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d313c49f72_2_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b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313c49f72_2_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g3d313c49f72_2_15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d313c49f72_2_15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b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313c49f72_2_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g3d313c49f72_2_27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g3d313c49f72_2_27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b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313c49f72_2_8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g3d313c49f72_2_84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d313c49f72_2_84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b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313c49f72_2_5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g3d313c49f72_2_50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d313c49f72_2_50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b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313c49f72_2_7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g3d313c49f72_2_73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d313c49f72_2_73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b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313c49f72_2_9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g3d313c49f72_2_93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d313c49f72_2_93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b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313c49f72_2_10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g3d313c49f72_2_104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d313c49f72_2_104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b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313c49f72_2_1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g3d313c49f72_2_115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d313c49f72_2_115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b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10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939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" name="Google Shape;5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772769" y="2255800"/>
            <a:ext cx="5556438" cy="555643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/>
          <p:nvPr/>
        </p:nvSpPr>
        <p:spPr>
          <a:xfrm>
            <a:off x="1743000" y="1493800"/>
            <a:ext cx="565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5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b="0" i="0" lang="bg" sz="5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Ethyleen</a:t>
            </a:r>
            <a:endParaRPr b="0" i="0" sz="5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2628900" y="2190750"/>
            <a:ext cx="3886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T Mono"/>
              <a:buNone/>
            </a:pPr>
            <a:r>
              <a:rPr b="0" i="0" lang="bg" sz="37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ABV</a:t>
            </a:r>
            <a:endParaRPr b="0" i="0" sz="37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3543300" y="3714750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46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1411" y="3883628"/>
            <a:ext cx="1881178" cy="1996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ircle with lines and circles&#10;&#10;Description automatically generated" id="64" name="Google Shape;6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43312" y="-3917383"/>
            <a:ext cx="7880255" cy="7532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circle with black background&#10;&#10;Description automatically generated" id="70" name="Google Shape;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92953" y="-1820741"/>
            <a:ext cx="4066523" cy="404756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" name="Google Shape;7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" name="Google Shape;7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2244544" y="-2304674"/>
            <a:ext cx="2239782" cy="21951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" name="Google Shape;7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1450" y="0"/>
            <a:ext cx="233838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" name="Google Shape;7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15075" y="1766888"/>
            <a:ext cx="2828925" cy="3376613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/>
          <p:nvPr/>
        </p:nvSpPr>
        <p:spPr>
          <a:xfrm>
            <a:off x="871538" y="490538"/>
            <a:ext cx="7640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bg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Проблемът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1200540" y="1584130"/>
            <a:ext cx="6982500" cy="24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" sz="13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1.Проблемите:</a:t>
            </a:r>
            <a:endParaRPr sz="13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" sz="13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Всеки ден в света се изхвърлят тонове храна и се хабят хиляди литри вода.</a:t>
            </a:r>
            <a:endParaRPr sz="13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" sz="13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1/3 от цялата произведена храна се губи годишно - това е 1.3 милиарда тона и $1 трилион загуби</a:t>
            </a:r>
            <a:endParaRPr sz="13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" sz="13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43% от отпадъците идват от домовете - средно $1,500 на семейство годишно</a:t>
            </a:r>
            <a:endParaRPr sz="13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bg" sz="13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В развитите страни над 40% от разхищението се случва в домакинствата - хората изхвърлят храна, защото не знаят кога продуктите се развалят.</a:t>
            </a:r>
            <a:endParaRPr sz="13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5F5F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yellow circle on a black background&#10;&#10;Description automatically generated" id="83" name="Google Shape;8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786326" y="-6883855"/>
            <a:ext cx="14460770" cy="1446077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5829300" y="2147888"/>
            <a:ext cx="5100638" cy="510063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" name="Google Shape;8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7" name="Google Shape;8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5938" y="1776413"/>
            <a:ext cx="3548063" cy="33670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/>
          <p:nvPr/>
        </p:nvSpPr>
        <p:spPr>
          <a:xfrm>
            <a:off x="640550" y="499813"/>
            <a:ext cx="7863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bg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Цел на проекта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1491500" y="1776425"/>
            <a:ext cx="6161100" cy="24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lang="bg" sz="13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Идеята на проекта е чрез сензори и мобилно приложение да следи годността на храната</a:t>
            </a:r>
            <a:endParaRPr sz="13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marR="0" rtl="0" algn="l">
              <a:lnSpc>
                <a:spcPct val="14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lang="bg" sz="13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и ако има развалени храни да се изпраща нотификация до потребителя. И така да се намали количеството на изхвърлена срана.</a:t>
            </a:r>
            <a:endParaRPr sz="13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circle with yellow lines&#10;&#10;Description automatically generated" id="95" name="Google Shape;9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114977" y="2000250"/>
            <a:ext cx="6686550" cy="668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 shot of a clock&#10;&#10;Description automatically generated" id="96" name="Google Shape;9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1607" y="-329453"/>
            <a:ext cx="4133896" cy="650132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" name="Google Shape;9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/>
          <p:nvPr/>
        </p:nvSpPr>
        <p:spPr>
          <a:xfrm>
            <a:off x="640550" y="509363"/>
            <a:ext cx="7863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bg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Използвани технологии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1070800" y="1525700"/>
            <a:ext cx="5200800" cy="22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Използвани компоненти:</a:t>
            </a:r>
            <a:endParaRPr b="1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Gas Sensors</a:t>
            </a:r>
            <a:r>
              <a:rPr lang="bg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: MQ-3, MQ-9, MQ135</a:t>
            </a:r>
            <a:endParaRPr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Environment Sensor : MOD-BME280</a:t>
            </a:r>
            <a:endParaRPr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System-on-Chip: ESP32-S3</a:t>
            </a:r>
            <a:endParaRPr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Използвани езици:</a:t>
            </a:r>
            <a:r>
              <a:rPr lang="bg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endParaRPr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Dart, C++, JavaScript, Kotlin</a:t>
            </a:r>
            <a:endParaRPr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/>
          <p:nvPr/>
        </p:nvSpPr>
        <p:spPr>
          <a:xfrm>
            <a:off x="870903" y="195580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bg" sz="32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Как работи проектът?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een circle with a black background&#10;&#10;Description automatically generated" id="107" name="Google Shape;10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656057" y="2840477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ircular logo with a black background&#10;&#10;Description automatically generated" id="108" name="Google Shape;10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1" y="100853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/>
          <p:nvPr/>
        </p:nvSpPr>
        <p:spPr>
          <a:xfrm>
            <a:off x="1187450" y="742950"/>
            <a:ext cx="63534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1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Сензорите:</a:t>
            </a:r>
            <a:endParaRPr b="1" sz="11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T Mono"/>
              <a:buChar char="●"/>
            </a:pPr>
            <a:r>
              <a:rPr b="1" lang="bg" sz="11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MQ-135:</a:t>
            </a:r>
            <a:r>
              <a:rPr lang="bg" sz="11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улавя наличието на амоняк и CO2.</a:t>
            </a:r>
            <a:endParaRPr sz="11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T Mono"/>
              <a:buChar char="●"/>
            </a:pPr>
            <a:r>
              <a:rPr b="1" lang="bg" sz="11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MQ-3:</a:t>
            </a:r>
            <a:r>
              <a:rPr lang="bg" sz="11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улавя етанолови пари.</a:t>
            </a:r>
            <a:endParaRPr sz="11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T Mono"/>
              <a:buChar char="●"/>
            </a:pPr>
            <a:r>
              <a:rPr b="1" lang="bg" sz="11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MQ-9:</a:t>
            </a:r>
            <a:r>
              <a:rPr lang="bg" sz="11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улавя метан и въглероден оксид.</a:t>
            </a:r>
            <a:endParaRPr sz="11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T Mono"/>
              <a:buChar char="●"/>
            </a:pPr>
            <a:r>
              <a:rPr b="1" lang="bg" sz="11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BME280:</a:t>
            </a:r>
            <a:r>
              <a:rPr lang="bg" sz="11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едновременно с това отчита точната температура и влажност в хладилника.</a:t>
            </a:r>
            <a:endParaRPr sz="11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1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Микроконтролерът:</a:t>
            </a:r>
            <a:endParaRPr sz="11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" sz="11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Приема суровите електрически сигнали от сензорите.</a:t>
            </a:r>
            <a:endParaRPr sz="11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" sz="11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Използва данните от BME280 (влажността), за да коригира и изчисти показанията на газовите сензори от грешки.</a:t>
            </a:r>
            <a:endParaRPr sz="11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" sz="11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Анализира данните във времето – проверява дали има трайно покачване на газовете или вратата просто е била отворена за кратко.</a:t>
            </a:r>
            <a:endParaRPr sz="11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1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 базата на този анализ поставя "етикет" на състоянието:</a:t>
            </a:r>
            <a:endParaRPr b="1" sz="11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" sz="11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bg" sz="1100">
                <a:solidFill>
                  <a:srgbClr val="00FF00"/>
                </a:solidFill>
                <a:latin typeface="PT Mono"/>
                <a:ea typeface="PT Mono"/>
                <a:cs typeface="PT Mono"/>
                <a:sym typeface="PT Mono"/>
              </a:rPr>
              <a:t>FRESH (Прясно)</a:t>
            </a:r>
            <a:r>
              <a:rPr lang="bg" sz="11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, </a:t>
            </a:r>
            <a:r>
              <a:rPr lang="bg" sz="1100">
                <a:solidFill>
                  <a:srgbClr val="FF9900"/>
                </a:solidFill>
                <a:latin typeface="PT Mono"/>
                <a:ea typeface="PT Mono"/>
                <a:cs typeface="PT Mono"/>
                <a:sym typeface="PT Mono"/>
              </a:rPr>
              <a:t>WARNING (Внимание)</a:t>
            </a:r>
            <a:r>
              <a:rPr lang="bg" sz="11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или </a:t>
            </a:r>
            <a:r>
              <a:rPr lang="bg" sz="1100">
                <a:solidFill>
                  <a:srgbClr val="FF0000"/>
                </a:solidFill>
                <a:latin typeface="PT Mono"/>
                <a:ea typeface="PT Mono"/>
                <a:cs typeface="PT Mono"/>
                <a:sym typeface="PT Mono"/>
              </a:rPr>
              <a:t>SPOILED (Развалено)</a:t>
            </a:r>
            <a:r>
              <a:rPr lang="bg" sz="11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.</a:t>
            </a:r>
            <a:endParaRPr sz="11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" sz="11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 всеки 30 секунди ESP32-S3 се свързва с Wi-Fi мрежата.</a:t>
            </a:r>
            <a:endParaRPr sz="11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" sz="11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Изпраща пакета с данни (нива на газове, климат, статус и батерия) към базата данни на Firebase.</a:t>
            </a:r>
            <a:endParaRPr sz="11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" sz="11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Ако статусът се е променил на “</a:t>
            </a:r>
            <a:r>
              <a:rPr lang="bg" sz="1100">
                <a:solidFill>
                  <a:srgbClr val="FF9900"/>
                </a:solidFill>
                <a:latin typeface="PT Mono"/>
                <a:ea typeface="PT Mono"/>
                <a:cs typeface="PT Mono"/>
                <a:sym typeface="PT Mono"/>
              </a:rPr>
              <a:t>WARNING</a:t>
            </a:r>
            <a:r>
              <a:rPr lang="bg" sz="11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” облачната система изпраща Push известие до смартфона на потребителя</a:t>
            </a:r>
            <a:r>
              <a:rPr lang="bg" sz="11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. </a:t>
            </a:r>
            <a:r>
              <a:rPr lang="bg" sz="11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Потребителят поглежда телефона си, вижда предупреждението, че определена храна започва да се разваля.</a:t>
            </a:r>
            <a:endParaRPr sz="11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circle with yellow lines&#10;&#10;Description automatically generated" id="115" name="Google Shape;1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35048" y="2158626"/>
            <a:ext cx="8979179" cy="89791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ircle with lines and dots&#10;&#10;Description automatically generated" id="116" name="Google Shape;11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85594" y="1730001"/>
            <a:ext cx="5550087" cy="555008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0"/>
          <p:cNvSpPr/>
          <p:nvPr/>
        </p:nvSpPr>
        <p:spPr>
          <a:xfrm>
            <a:off x="2428875" y="1109663"/>
            <a:ext cx="4291013" cy="1462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0"/>
          <p:cNvSpPr/>
          <p:nvPr/>
        </p:nvSpPr>
        <p:spPr>
          <a:xfrm>
            <a:off x="640556" y="1833562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6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b="0" i="0" lang="bg" sz="50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Демо</a:t>
            </a:r>
            <a:r>
              <a:rPr b="0" i="0" lang="bg" sz="525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endParaRPr b="0" i="0" sz="5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1"/>
          <p:cNvSpPr/>
          <p:nvPr/>
        </p:nvSpPr>
        <p:spPr>
          <a:xfrm>
            <a:off x="6272213" y="3495675"/>
            <a:ext cx="3309938" cy="3309938"/>
          </a:xfrm>
          <a:prstGeom prst="ellipse">
            <a:avLst/>
          </a:prstGeom>
          <a:solidFill>
            <a:srgbClr val="FFB803">
              <a:alpha val="6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" name="Google Shape;12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0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9" name="Google Shape;12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213" y="4763"/>
            <a:ext cx="2033588" cy="50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1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bg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Процес на работа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een circle with a black background&#10;&#10;Description automatically generated" id="131" name="Google Shape;13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2466225" y="3128963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1"/>
          <p:cNvSpPr txBox="1"/>
          <p:nvPr/>
        </p:nvSpPr>
        <p:spPr>
          <a:xfrm>
            <a:off x="1529775" y="1496100"/>
            <a:ext cx="6261000" cy="29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Етап 1:</a:t>
            </a:r>
            <a:r>
              <a:rPr lang="bg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Измисляне на идея и на начин за нейното изпълнение</a:t>
            </a:r>
            <a:endParaRPr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Етап 2:</a:t>
            </a:r>
            <a:r>
              <a:rPr lang="bg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Проучване, изиране и взимане на части</a:t>
            </a:r>
            <a:endParaRPr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Етап 3:</a:t>
            </a:r>
            <a:r>
              <a:rPr lang="bg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Създаване на прототип и тестване</a:t>
            </a:r>
            <a:endParaRPr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Етап 4:</a:t>
            </a:r>
            <a:r>
              <a:rPr lang="bg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Финални настройвания/поправки, подготвяне на презентация и репетиране на представянето й</a:t>
            </a:r>
            <a:endParaRPr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Е</a:t>
            </a:r>
            <a:r>
              <a:rPr b="1" lang="bg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тап 5:</a:t>
            </a:r>
            <a:r>
              <a:rPr lang="bg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Представянето на проекта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9" name="Google Shape;13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93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0" name="Google Shape;14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2809875" cy="48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bg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Вашето преживяване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2"/>
          <p:cNvSpPr/>
          <p:nvPr/>
        </p:nvSpPr>
        <p:spPr>
          <a:xfrm>
            <a:off x="1068000" y="1182950"/>
            <a:ext cx="7008000" cy="30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b="1" lang="bg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Нашият екип:</a:t>
            </a:r>
            <a:r>
              <a:rPr lang="bg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Петър Антонов, Петър Стоянов, Райън Ел Кузи, Виктор Билянски, Самуил Караиванов</a:t>
            </a:r>
            <a:endParaRPr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marR="0" rtl="0" algn="l">
              <a:lnSpc>
                <a:spcPct val="14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b="1" lang="bg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Нашият</a:t>
            </a:r>
            <a:r>
              <a:rPr b="1" lang="bg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ментор:</a:t>
            </a:r>
            <a:r>
              <a:rPr lang="bg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Антон Титов</a:t>
            </a:r>
            <a:endParaRPr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marR="0" rtl="0" algn="l">
              <a:lnSpc>
                <a:spcPct val="14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b="1" lang="bg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Какво научихте от Хакатона?</a:t>
            </a:r>
            <a:endParaRPr b="1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marR="0" rtl="0" algn="l">
              <a:lnSpc>
                <a:spcPct val="14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lang="bg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Работа в екип, да планирам за напред, да проучвам за решения на проблеми и полезна информация</a:t>
            </a:r>
            <a:endParaRPr sz="24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pic>
        <p:nvPicPr>
          <p:cNvPr descr="A black and gold circle with black lines&#10;&#10;Description automatically generated" id="143" name="Google Shape;14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7060" y="2824163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ircular object with a black background&#10;&#10;Description automatically generated" id="149" name="Google Shape;1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21475" y="428319"/>
            <a:ext cx="10786950" cy="1078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1" name="Google Shape;15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3"/>
          <p:cNvSpPr/>
          <p:nvPr/>
        </p:nvSpPr>
        <p:spPr>
          <a:xfrm>
            <a:off x="871538" y="2047875"/>
            <a:ext cx="7862888" cy="104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b="0" i="0" lang="bg" sz="50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Благодарим ви за вниманието!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3"/>
          <p:cNvSpPr/>
          <p:nvPr/>
        </p:nvSpPr>
        <p:spPr>
          <a:xfrm>
            <a:off x="3543300" y="3933825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46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1411" y="4515528"/>
            <a:ext cx="1881178" cy="199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